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Default Extension="jpeg" ContentType="image/jpeg"/>
  <Default Extension="svg" ContentType="image/svg+xml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Play"/>
      <p:regular r:id="rId26"/>
      <p:bold r:id="rId27"/>
    </p:embeddedFont>
    <p:embeddedFont>
      <p:font typeface="Barlow Condensed"/>
      <p:regular r:id="rId28"/>
      <p:bold r:id="rId29"/>
      <p:italic r:id="rId30"/>
      <p:boldItalic r:id="rId31"/>
    </p:embeddedFont>
    <p:embeddedFont>
      <p:font typeface="Century Gothic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6" roundtripDataSignature="AMtx7mjLfkqwZfXEq8EJ4smhtoK7AUN3N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F441D4B-1A72-4F0A-B3B5-7C1576DA7895}">
  <a:tblStyle styleId="{9F441D4B-1A72-4F0A-B3B5-7C1576DA7895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/>
      <a:tcStyle>
        <a:fill>
          <a:solidFill>
            <a:srgbClr val="CAD1D8"/>
          </a:solidFill>
        </a:fill>
      </a:tcStyle>
    </a:band1H>
    <a:band2H>
      <a:tcTxStyle/>
    </a:band2H>
    <a:band1V>
      <a:tcTxStyle/>
      <a:tcStyle>
        <a:fill>
          <a:solidFill>
            <a:srgbClr val="CAD1D8"/>
          </a:solidFill>
        </a:fill>
      </a:tcStyle>
    </a:band1V>
    <a:band2V>
      <a:tcTxStyle/>
    </a:band2V>
    <a:la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156082"/>
          </a:solidFill>
        </a:fill>
      </a:tcStyle>
    </a:lastCol>
    <a:firstCol>
      <a:tcTxStyle b="on" i="off">
        <a:font>
          <a:latin typeface="Arial"/>
          <a:ea typeface="Arial"/>
          <a:cs typeface="Arial"/>
        </a:font>
        <a:srgbClr val="FFFFFF"/>
      </a:tcTxStyle>
      <a:tcStyle>
        <a:fill>
          <a:solidFill>
            <a:srgbClr val="156082"/>
          </a:solidFill>
        </a:fill>
      </a:tcStyle>
    </a:firstCol>
    <a:la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top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156082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Arial"/>
          <a:ea typeface="Arial"/>
          <a:cs typeface="Arial"/>
        </a:font>
        <a:srgbClr val="FFFFFF"/>
      </a:tcTxStyle>
      <a:tcStyle>
        <a:tcBdr>
          <a:bottom>
            <a:ln cap="flat" cmpd="sng" w="381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156082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?>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26" Type="http://schemas.openxmlformats.org/officeDocument/2006/relationships/font" Target="fonts/Play-regular.fntdata"/><Relationship Id="rId28" Type="http://schemas.openxmlformats.org/officeDocument/2006/relationships/font" Target="fonts/BarlowCondensed-regular.fntdata"/><Relationship Id="rId27" Type="http://schemas.openxmlformats.org/officeDocument/2006/relationships/font" Target="fonts/Play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BarlowCondensed-bold.fntdata"/><Relationship Id="rId31" Type="http://schemas.openxmlformats.org/officeDocument/2006/relationships/font" Target="fonts/BarlowCondensed-boldItalic.fntdata"/><Relationship Id="rId30" Type="http://schemas.openxmlformats.org/officeDocument/2006/relationships/font" Target="fonts/BarlowCondensed-italic.fntdata"/><Relationship Id="rId33" Type="http://schemas.openxmlformats.org/officeDocument/2006/relationships/font" Target="fonts/CenturyGothic-bold.fntdata"/><Relationship Id="rId32" Type="http://schemas.openxmlformats.org/officeDocument/2006/relationships/font" Target="fonts/CenturyGothic-regular.fntdata"/><Relationship Id="rId35" Type="http://schemas.openxmlformats.org/officeDocument/2006/relationships/font" Target="fonts/CenturyGothic-boldItalic.fntdata"/><Relationship Id="rId34" Type="http://schemas.openxmlformats.org/officeDocument/2006/relationships/font" Target="fonts/CenturyGothic-italic.fntdata"/><Relationship Id="rId36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Two-minute fast-forward. Click the video as you start speaking; it is muted and runs 105 seconds. Full script in talk.md.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7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1" name="Google Shape;31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9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0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10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2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4" name="Google Shape;64;p12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3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1" name="Google Shape;71;p13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2" name="Google Shape;72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8" name="Google Shape;78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9.xml"/><Relationship Id="rId10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0.xml"/><Relationship Id="rId1" Type="http://schemas.openxmlformats.org/officeDocument/2006/relationships/image" Target="../media/image2.pn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9" Type="http://schemas.openxmlformats.org/officeDocument/2006/relationships/slideLayout" Target="../slideLayouts/slideLayout7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/>
          <p:nvPr/>
        </p:nvSpPr>
        <p:spPr>
          <a:xfrm>
            <a:off x="-19050" y="0"/>
            <a:ext cx="12211050" cy="6858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">
              <a:alphaModFix/>
            </a:blip>
            <a:stretch>
              <a:fillRect b="-250" l="0" r="0" t="-250"/>
            </a:stretch>
          </a:blipFill>
          <a:ln>
            <a:noFill/>
          </a:ln>
        </p:spPr>
      </p:sp>
      <p:sp>
        <p:nvSpPr>
          <p:cNvPr id="11" name="Google Shape;11;p4"/>
          <p:cNvSpPr/>
          <p:nvPr/>
        </p:nvSpPr>
        <p:spPr>
          <a:xfrm>
            <a:off x="10726050" y="5249074"/>
            <a:ext cx="1486097" cy="1334664"/>
          </a:xfrm>
          <a:custGeom>
            <a:rect b="b" l="l" r="r" t="t"/>
            <a:pathLst>
              <a:path extrusionOk="0" h="6590933" w="6323817">
                <a:moveTo>
                  <a:pt x="0" y="0"/>
                </a:moveTo>
                <a:lnTo>
                  <a:pt x="6323816" y="0"/>
                </a:lnTo>
                <a:lnTo>
                  <a:pt x="6323816" y="6590933"/>
                </a:lnTo>
                <a:lnTo>
                  <a:pt x="0" y="659093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" name="Google Shape;12;p4"/>
          <p:cNvSpPr txBox="1"/>
          <p:nvPr/>
        </p:nvSpPr>
        <p:spPr>
          <a:xfrm>
            <a:off x="10543761" y="6433139"/>
            <a:ext cx="1620078" cy="300151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Web3D </a:t>
            </a:r>
            <a:r>
              <a:rPr b="0" i="0" lang="en-US" sz="15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2026</a:t>
            </a:r>
            <a:endParaRPr b="0" i="0" sz="15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4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5" name="Google Shape;15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ff-media-1-1.mp4"/><Relationship Id="rId2" Type="http://schemas.microsoft.com/office/2007/relationships/media" Target="../media/ff-media-1-1.mp4"/><Relationship Id="rId3" Type="http://schemas.openxmlformats.org/officeDocument/2006/relationships/image" Target="../media/ff-image-1-3.png"/><Relationship Id="rId4" Type="http://schemas.openxmlformats.org/officeDocument/2006/relationships/image" Target="../media/ff-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/>
        </p:nvSpPr>
        <p:spPr>
          <a:xfrm>
            <a:off x="548640" y="27432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X3D Copilot</a:t>
            </a:r>
            <a:endParaRPr lang="en-US" sz="4000" dirty="0"/>
          </a:p>
          <a:p>
            <a:pPr indent="0" marL="0">
              <a:buNone/>
            </a:pPr>
            <a:r>
              <a:rPr lang="en-US" sz="2000" dirty="0">
                <a:solidFill>
                  <a:srgbClr val="5CC8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a 3D scene in plain words. Get a valid X3D 4.0 scene, live in your browser.</a:t>
            </a:r>
            <a:endParaRPr lang="en-US" sz="4000" dirty="0"/>
          </a:p>
        </p:txBody>
      </p:sp>
      <p:sp>
        <p:nvSpPr>
          <p:cNvPr id="3" name="Card what"/>
          <p:cNvSpPr/>
          <p:nvPr/>
        </p:nvSpPr>
        <p:spPr>
          <a:xfrm>
            <a:off x="548640" y="1371600"/>
            <a:ext cx="5394960" cy="1874520"/>
          </a:xfrm>
          <a:prstGeom prst="roundRect">
            <a:avLst>
              <a:gd name="adj" fmla="val 3902"/>
            </a:avLst>
          </a:prstGeom>
          <a:solidFill>
            <a:srgbClr val="06194F">
              <a:alpha val="80000"/>
            </a:srgbClr>
          </a:solidFill>
          <a:ln w="12700">
            <a:solidFill>
              <a:srgbClr val="06194F">
                <a:alpha val="0"/>
              </a:srgbClr>
            </a:solidFill>
            <a:prstDash val="solid"/>
          </a:ln>
        </p:spPr>
      </p:sp>
      <p:sp>
        <p:nvSpPr>
          <p:cNvPr id="4" name="What header"/>
          <p:cNvSpPr txBox="1"/>
          <p:nvPr/>
        </p:nvSpPr>
        <p:spPr>
          <a:xfrm>
            <a:off x="731520" y="14173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IS</a:t>
            </a:r>
            <a:endParaRPr lang="en-US" sz="1300" dirty="0"/>
          </a:p>
        </p:txBody>
      </p:sp>
      <p:sp>
        <p:nvSpPr>
          <p:cNvPr id="5" name="What 1"/>
          <p:cNvSpPr txBox="1"/>
          <p:nvPr/>
        </p:nvSpPr>
        <p:spPr>
          <a:xfrm>
            <a:off x="731520" y="1755648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3D editor that runs in the browser.</a:t>
            </a:r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Live view, source editor, drag objects, import glTF or OBJ, export X3D. Nothing to install.</a:t>
            </a:r>
            <a:endParaRPr lang="en-US" sz="1300" dirty="0"/>
          </a:p>
        </p:txBody>
      </p:sp>
      <p:sp>
        <p:nvSpPr>
          <p:cNvPr id="6" name="What 2"/>
          <p:cNvSpPr txBox="1"/>
          <p:nvPr/>
        </p:nvSpPr>
        <p:spPr>
          <a:xfrm>
            <a:off x="731520" y="2240280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co-author.</a:t>
            </a:r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Just say what you want: “a snowman at night”, “make the hat jump when clicked”.</a:t>
            </a:r>
            <a:endParaRPr lang="en-US" sz="1300" dirty="0"/>
          </a:p>
        </p:txBody>
      </p:sp>
      <p:sp>
        <p:nvSpPr>
          <p:cNvPr id="7" name="What 3"/>
          <p:cNvSpPr txBox="1"/>
          <p:nvPr/>
        </p:nvSpPr>
        <p:spPr>
          <a:xfrm>
            <a:off x="731520" y="2724912"/>
            <a:ext cx="5029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referee that never sleeps.</a:t>
            </a:r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Every change, yours or the AI's, is checked against the X3D 4.0 standard before you see it.</a:t>
            </a:r>
            <a:endParaRPr lang="en-US" sz="1300" dirty="0"/>
          </a:p>
        </p:txBody>
      </p:sp>
      <p:sp>
        <p:nvSpPr>
          <p:cNvPr id="8" name="Card how"/>
          <p:cNvSpPr/>
          <p:nvPr/>
        </p:nvSpPr>
        <p:spPr>
          <a:xfrm>
            <a:off x="548640" y="3383280"/>
            <a:ext cx="5394960" cy="2423160"/>
          </a:xfrm>
          <a:prstGeom prst="roundRect">
            <a:avLst>
              <a:gd name="adj" fmla="val 3019"/>
            </a:avLst>
          </a:prstGeom>
          <a:solidFill>
            <a:srgbClr val="06194F">
              <a:alpha val="80000"/>
            </a:srgbClr>
          </a:solidFill>
          <a:ln w="12700">
            <a:solidFill>
              <a:srgbClr val="06194F">
                <a:alpha val="0"/>
              </a:srgbClr>
            </a:solidFill>
            <a:prstDash val="solid"/>
          </a:ln>
        </p:spPr>
      </p:sp>
      <p:sp>
        <p:nvSpPr>
          <p:cNvPr id="9" name="How header"/>
          <p:cNvSpPr txBox="1"/>
          <p:nvPr/>
        </p:nvSpPr>
        <p:spPr>
          <a:xfrm>
            <a:off x="731520" y="342900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1300" dirty="0"/>
          </a:p>
        </p:txBody>
      </p:sp>
      <p:sp>
        <p:nvSpPr>
          <p:cNvPr id="10" name="Step num 1"/>
          <p:cNvSpPr txBox="1"/>
          <p:nvPr/>
        </p:nvSpPr>
        <p:spPr>
          <a:xfrm>
            <a:off x="731520" y="376732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600" dirty="0"/>
          </a:p>
        </p:txBody>
      </p:sp>
      <p:sp>
        <p:nvSpPr>
          <p:cNvPr id="11" name="Step text 1"/>
          <p:cNvSpPr txBox="1"/>
          <p:nvPr/>
        </p:nvSpPr>
        <p:spPr>
          <a:xfrm>
            <a:off x="1188720" y="376732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ask</a:t>
            </a:r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plain words, for a new scene or a change to the one on screen.</a:t>
            </a:r>
            <a:endParaRPr lang="en-US" sz="1300" dirty="0"/>
          </a:p>
        </p:txBody>
      </p:sp>
      <p:sp>
        <p:nvSpPr>
          <p:cNvPr id="12" name="Step num 2"/>
          <p:cNvSpPr txBox="1"/>
          <p:nvPr/>
        </p:nvSpPr>
        <p:spPr>
          <a:xfrm>
            <a:off x="731520" y="42702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600" dirty="0"/>
          </a:p>
        </p:txBody>
      </p:sp>
      <p:sp>
        <p:nvSpPr>
          <p:cNvPr id="13" name="Step text 2"/>
          <p:cNvSpPr txBox="1"/>
          <p:nvPr/>
        </p:nvSpPr>
        <p:spPr>
          <a:xfrm>
            <a:off x="1188720" y="427024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reads the X3D specification</a:t>
            </a:r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edits the scene through tools; it never writes blind.</a:t>
            </a:r>
            <a:endParaRPr lang="en-US" sz="1300" dirty="0"/>
          </a:p>
        </p:txBody>
      </p:sp>
      <p:sp>
        <p:nvSpPr>
          <p:cNvPr id="14" name="Step num 3"/>
          <p:cNvSpPr txBox="1"/>
          <p:nvPr/>
        </p:nvSpPr>
        <p:spPr>
          <a:xfrm>
            <a:off x="731520" y="477316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Step text 3"/>
          <p:cNvSpPr txBox="1"/>
          <p:nvPr/>
        </p:nvSpPr>
        <p:spPr>
          <a:xfrm>
            <a:off x="1188720" y="477316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checks the result:</a:t>
            </a:r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schema, semantic rules and the 3D runtime. The AI must fix every error before it answers.</a:t>
            </a:r>
            <a:endParaRPr lang="en-US" sz="1300" dirty="0"/>
          </a:p>
        </p:txBody>
      </p:sp>
      <p:sp>
        <p:nvSpPr>
          <p:cNvPr id="16" name="Step num 4"/>
          <p:cNvSpPr txBox="1"/>
          <p:nvPr/>
        </p:nvSpPr>
        <p:spPr>
          <a:xfrm>
            <a:off x="731520" y="527608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5CC8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600" dirty="0"/>
          </a:p>
        </p:txBody>
      </p:sp>
      <p:sp>
        <p:nvSpPr>
          <p:cNvPr id="17" name="Step text 4"/>
          <p:cNvSpPr txBox="1"/>
          <p:nvPr/>
        </p:nvSpPr>
        <p:spPr>
          <a:xfrm>
            <a:off x="1188720" y="5276088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looks at the render</a:t>
            </a:r>
            <a:pPr indent="0" marL="0">
              <a:buNone/>
            </a:pPr>
            <a:r>
              <a:rPr lang="en-US" sz="13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replies. You keep editing by hand, by dragging, or by chat.</a:t>
            </a:r>
            <a:endParaRPr lang="en-US" sz="1300" dirty="0"/>
          </a:p>
        </p:txBody>
      </p:sp>
      <p:sp>
        <p:nvSpPr>
          <p:cNvPr id="18" name="Video frame"/>
          <p:cNvSpPr/>
          <p:nvPr/>
        </p:nvSpPr>
        <p:spPr>
          <a:xfrm>
            <a:off x="6190488" y="1298448"/>
            <a:ext cx="5495544" cy="3155252"/>
          </a:xfrm>
          <a:prstGeom prst="roundRect">
            <a:avLst>
              <a:gd name="adj" fmla="val 2318"/>
            </a:avLst>
          </a:prstGeom>
          <a:solidFill>
            <a:srgbClr val="06194F">
              <a:alpha val="80000"/>
            </a:srgbClr>
          </a:solidFill>
          <a:ln w="12700">
            <a:solidFill>
              <a:srgbClr val="06194F">
                <a:alpha val="0"/>
              </a:srgbClr>
            </a:solidFill>
            <a:prstDash val="solid"/>
          </a:ln>
        </p:spPr>
      </p:sp>
      <p:pic>
        <p:nvPicPr>
          <p:cNvPr id="3" name="Highlight video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263640" y="1371600"/>
            <a:ext cx="5349240" cy="3008948"/>
          </a:xfrm>
          <a:prstGeom prst="rect">
            <a:avLst/>
          </a:prstGeom>
        </p:spPr>
      </p:pic>
      <p:sp>
        <p:nvSpPr>
          <p:cNvPr id="20" name="Video caption"/>
          <p:cNvSpPr txBox="1"/>
          <p:nvPr/>
        </p:nvSpPr>
        <p:spPr>
          <a:xfrm>
            <a:off x="6263640" y="4490276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clip: an AI-built still life, a snowman from one sentence, moon shadows, a click that makes the hat hop, the solar system, dragging objects, physically based materials, and a scene with eleven errors repaired in one request.</a:t>
            </a:r>
            <a:endParaRPr lang="en-US" sz="1100" dirty="0"/>
          </a:p>
        </p:txBody>
      </p:sp>
      <p:sp>
        <p:nvSpPr>
          <p:cNvPr id="21" name="Card try"/>
          <p:cNvSpPr/>
          <p:nvPr/>
        </p:nvSpPr>
        <p:spPr>
          <a:xfrm>
            <a:off x="6263640" y="5074920"/>
            <a:ext cx="4297680" cy="914400"/>
          </a:xfrm>
          <a:prstGeom prst="roundRect">
            <a:avLst>
              <a:gd name="adj" fmla="val 8000"/>
            </a:avLst>
          </a:prstGeom>
          <a:solidFill>
            <a:srgbClr val="06194F">
              <a:alpha val="80000"/>
            </a:srgbClr>
          </a:solidFill>
          <a:ln w="12700">
            <a:solidFill>
              <a:srgbClr val="06194F">
                <a:alpha val="0"/>
              </a:srgbClr>
            </a:solidFill>
            <a:prstDash val="solid"/>
          </a:ln>
        </p:spPr>
      </p:sp>
      <p:pic>
        <p:nvPicPr>
          <p:cNvPr id="22" name="QR" descr="D:\devel\webd3d26-competition\x3d-copilot\docs\submission\fastforward\q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5148072"/>
            <a:ext cx="768096" cy="768096"/>
          </a:xfrm>
          <a:prstGeom prst="rect">
            <a:avLst/>
          </a:prstGeom>
        </p:spPr>
      </p:pic>
      <p:sp>
        <p:nvSpPr>
          <p:cNvPr id="23" name="Links"/>
          <p:cNvSpPr txBox="1"/>
          <p:nvPr/>
        </p:nvSpPr>
        <p:spPr>
          <a:xfrm>
            <a:off x="7178040" y="512064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it now: </a:t>
            </a:r>
            <a:pPr indent="0" marL="0">
              <a:buNone/>
            </a:pPr>
            <a:r>
              <a:rPr lang="en-US" sz="1150" b="1" dirty="0">
                <a:solidFill>
                  <a:srgbClr val="FFD1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albertojaspe.net/x3d-copilot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(MIT):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github.com/ajaspe/x3d-copilot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Video: </a:t>
            </a:r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youtu.be/ll1CE0XaRjo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your own Gemini or Claude key for the AI.</a:t>
            </a:r>
            <a:endParaRPr lang="en-US" sz="1150" dirty="0"/>
          </a:p>
        </p:txBody>
      </p:sp>
      <p:sp>
        <p:nvSpPr>
          <p:cNvPr id="24" name="Author"/>
          <p:cNvSpPr txBox="1"/>
          <p:nvPr/>
        </p:nvSpPr>
        <p:spPr>
          <a:xfrm>
            <a:off x="548640" y="5989320"/>
            <a:ext cx="9966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Alberto Jaspe-Villanueva</a:t>
            </a:r>
            <a:pPr indent="0" marL="0">
              <a:buNone/>
            </a:pPr>
            <a:r>
              <a:rPr lang="en-US" sz="1200" dirty="0">
                <a:solidFill>
                  <a:srgbClr val="C9D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King Abdullah University of Science and Technology (KAUST)   ·   AI &amp; Web3D Innovation Competition, Web3D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2026-09-27T14:00:02Z</dcterms:created>
  <dc:creator>Pere-Pau</dc:creator>
</cp:coreProperties>
</file>