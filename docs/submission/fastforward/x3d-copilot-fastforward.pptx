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2-minute fast-forward. Start the video when you begin speaking; it is muted and runs 79 seconds. Script in talk.md.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Closing the Loop</a:t>
            </a:r>
            <a:endParaRPr lang="en-US" sz="4000" dirty="0"/>
          </a:p>
        </p:txBody>
      </p:sp>
      <p:sp>
        <p:nvSpPr>
          <p:cNvPr id="3" name="Tagline"/>
          <p:cNvSpPr txBox="1"/>
          <p:nvPr/>
        </p:nvSpPr>
        <p:spPr>
          <a:xfrm>
            <a:off x="548640" y="10972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4D399"/>
                </a:solidFill>
              </a:rPr>
              <a:t>AI that writes X3D 4.0 scenes, and cannot ship an invalid one</a:t>
            </a:r>
            <a:endParaRPr lang="en-US" sz="1900" dirty="0"/>
          </a:p>
        </p:txBody>
      </p:sp>
      <p:sp>
        <p:nvSpPr>
          <p:cNvPr id="4" name="Card 260"/>
          <p:cNvSpPr/>
          <p:nvPr/>
        </p:nvSpPr>
        <p:spPr>
          <a:xfrm>
            <a:off x="548640" y="20574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9525">
            <a:solidFill>
              <a:srgbClr val="2A323C"/>
            </a:solidFill>
            <a:prstDash val="solid"/>
          </a:ln>
        </p:spPr>
      </p:sp>
      <p:sp>
        <p:nvSpPr>
          <p:cNvPr id="5" name="Stat 260"/>
          <p:cNvSpPr txBox="1"/>
          <p:nvPr/>
        </p:nvSpPr>
        <p:spPr>
          <a:xfrm>
            <a:off x="685800" y="213055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</a:rPr>
              <a:t>260</a:t>
            </a:r>
            <a:endParaRPr lang="en-US" sz="4000" dirty="0"/>
          </a:p>
        </p:txBody>
      </p:sp>
      <p:sp>
        <p:nvSpPr>
          <p:cNvPr id="6" name="Stat text 260"/>
          <p:cNvSpPr txBox="1"/>
          <p:nvPr/>
        </p:nvSpPr>
        <p:spPr>
          <a:xfrm>
            <a:off x="1691640" y="213055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nodes of the X3D 4.0 object model, read by the AI through a tool instead of guessed from memory</a:t>
            </a:r>
            <a:endParaRPr lang="en-US" sz="1400" dirty="0"/>
          </a:p>
        </p:txBody>
      </p:sp>
      <p:sp>
        <p:nvSpPr>
          <p:cNvPr id="7" name="Card 3"/>
          <p:cNvSpPr/>
          <p:nvPr/>
        </p:nvSpPr>
        <p:spPr>
          <a:xfrm>
            <a:off x="548640" y="306324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9525">
            <a:solidFill>
              <a:srgbClr val="2A323C"/>
            </a:solidFill>
            <a:prstDash val="solid"/>
          </a:ln>
        </p:spPr>
      </p:sp>
      <p:sp>
        <p:nvSpPr>
          <p:cNvPr id="8" name="Stat 3"/>
          <p:cNvSpPr txBox="1"/>
          <p:nvPr/>
        </p:nvSpPr>
        <p:spPr>
          <a:xfrm>
            <a:off x="685800" y="313639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</a:rPr>
              <a:t>3</a:t>
            </a:r>
            <a:endParaRPr lang="en-US" sz="4000" dirty="0"/>
          </a:p>
        </p:txBody>
      </p:sp>
      <p:sp>
        <p:nvSpPr>
          <p:cNvPr id="9" name="Stat text 3"/>
          <p:cNvSpPr txBox="1"/>
          <p:nvPr/>
        </p:nvSpPr>
        <p:spPr>
          <a:xfrm>
            <a:off x="1691640" y="31363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independent validators on every edit: official XML Schema, spec-derived linter, X_ITE runtime</a:t>
            </a:r>
            <a:endParaRPr lang="en-US" sz="1400" dirty="0"/>
          </a:p>
        </p:txBody>
      </p:sp>
      <p:sp>
        <p:nvSpPr>
          <p:cNvPr id="10" name="Card 1"/>
          <p:cNvSpPr/>
          <p:nvPr/>
        </p:nvSpPr>
        <p:spPr>
          <a:xfrm>
            <a:off x="548640" y="40690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161B22"/>
          </a:solidFill>
          <a:ln w="9525">
            <a:solidFill>
              <a:srgbClr val="2A323C"/>
            </a:solidFill>
            <a:prstDash val="solid"/>
          </a:ln>
        </p:spPr>
      </p:sp>
      <p:sp>
        <p:nvSpPr>
          <p:cNvPr id="11" name="Stat 1"/>
          <p:cNvSpPr txBox="1"/>
          <p:nvPr/>
        </p:nvSpPr>
        <p:spPr>
          <a:xfrm>
            <a:off x="685800" y="414223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</a:rPr>
              <a:t>1</a:t>
            </a:r>
            <a:endParaRPr lang="en-US" sz="4000" dirty="0"/>
          </a:p>
        </p:txBody>
      </p:sp>
      <p:sp>
        <p:nvSpPr>
          <p:cNvPr id="12" name="Stat text 1"/>
          <p:cNvSpPr txBox="1"/>
          <p:nvPr/>
        </p:nvSpPr>
        <p:spPr>
          <a:xfrm>
            <a:off x="1691640" y="414223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screenshot: the AI looks at its own render before it answers</a:t>
            </a:r>
            <a:endParaRPr lang="en-US" sz="1400" dirty="0"/>
          </a:p>
        </p:txBody>
      </p:sp>
      <p:sp>
        <p:nvSpPr>
          <p:cNvPr id="13" name="Result"/>
          <p:cNvSpPr txBox="1"/>
          <p:nvPr/>
        </p:nvSpPr>
        <p:spPr>
          <a:xfrm>
            <a:off x="548640" y="5120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Result: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standards-conformant 3D content by construction. Runs entirely in the browser, open source (MIT), works with Gemini or Claude using your own key.</a:t>
            </a:r>
            <a:endParaRPr lang="en-US" sz="1400" dirty="0"/>
          </a:p>
        </p:txBody>
      </p:sp>
      <p:sp>
        <p:nvSpPr>
          <p:cNvPr id="14" name="Video frame"/>
          <p:cNvSpPr/>
          <p:nvPr/>
        </p:nvSpPr>
        <p:spPr>
          <a:xfrm>
            <a:off x="5961888" y="429768"/>
            <a:ext cx="5769864" cy="3309557"/>
          </a:xfrm>
          <a:prstGeom prst="roundRect">
            <a:avLst>
              <a:gd name="adj" fmla="val 2763"/>
            </a:avLst>
          </a:prstGeom>
          <a:solidFill>
            <a:srgbClr val="161B22"/>
          </a:solidFill>
          <a:ln w="9525">
            <a:solidFill>
              <a:srgbClr val="2A323C"/>
            </a:solidFill>
            <a:prstDash val="solid"/>
          </a:ln>
        </p:spPr>
      </p:sp>
      <p:pic>
        <p:nvPicPr>
          <p:cNvPr id="3" name="Highlight 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35040" y="502920"/>
            <a:ext cx="5623560" cy="3163253"/>
          </a:xfrm>
          <a:prstGeom prst="rect">
            <a:avLst/>
          </a:prstGeom>
        </p:spPr>
      </p:pic>
      <p:sp>
        <p:nvSpPr>
          <p:cNvPr id="16" name="Video caption"/>
          <p:cNvSpPr txBox="1"/>
          <p:nvPr/>
        </p:nvSpPr>
        <p:spPr>
          <a:xfrm>
            <a:off x="6035040" y="3775901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8A5"/>
                </a:solidFill>
              </a:rPr>
              <a:t>Snowman from one sentence, then details, moon shadows and a click behaviour. Every step validated; eleven planted errors repaired in one request.</a:t>
            </a:r>
            <a:endParaRPr lang="en-US" sz="1150" dirty="0"/>
          </a:p>
        </p:txBody>
      </p:sp>
      <p:sp>
        <p:nvSpPr>
          <p:cNvPr id="17" name="Step Prompt"/>
          <p:cNvSpPr/>
          <p:nvPr/>
        </p:nvSpPr>
        <p:spPr>
          <a:xfrm>
            <a:off x="6035040" y="4434840"/>
            <a:ext cx="87630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9525">
            <a:solidFill>
              <a:srgbClr val="2A323C"/>
            </a:solidFill>
            <a:prstDash val="solid"/>
          </a:ln>
        </p:spPr>
      </p:sp>
      <p:sp>
        <p:nvSpPr>
          <p:cNvPr id="18" name="Step label Prompt"/>
          <p:cNvSpPr txBox="1"/>
          <p:nvPr/>
        </p:nvSpPr>
        <p:spPr>
          <a:xfrm>
            <a:off x="6035040" y="4434840"/>
            <a:ext cx="87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Prompt</a:t>
            </a:r>
            <a:endParaRPr lang="en-US" sz="1100" dirty="0"/>
          </a:p>
        </p:txBody>
      </p:sp>
      <p:sp>
        <p:nvSpPr>
          <p:cNvPr id="19" name="Step Look up spec"/>
          <p:cNvSpPr/>
          <p:nvPr/>
        </p:nvSpPr>
        <p:spPr>
          <a:xfrm>
            <a:off x="6984492" y="4434840"/>
            <a:ext cx="87630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9525">
            <a:solidFill>
              <a:srgbClr val="2A323C"/>
            </a:solidFill>
            <a:prstDash val="solid"/>
          </a:ln>
        </p:spPr>
      </p:sp>
      <p:sp>
        <p:nvSpPr>
          <p:cNvPr id="20" name="Step label Look up spec"/>
          <p:cNvSpPr txBox="1"/>
          <p:nvPr/>
        </p:nvSpPr>
        <p:spPr>
          <a:xfrm>
            <a:off x="6984492" y="4434840"/>
            <a:ext cx="87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Look up spec</a:t>
            </a:r>
            <a:endParaRPr lang="en-US" sz="1100" dirty="0"/>
          </a:p>
        </p:txBody>
      </p:sp>
      <p:sp>
        <p:nvSpPr>
          <p:cNvPr id="21" name="Step Edit scene"/>
          <p:cNvSpPr/>
          <p:nvPr/>
        </p:nvSpPr>
        <p:spPr>
          <a:xfrm>
            <a:off x="7933944" y="4434840"/>
            <a:ext cx="87630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9525">
            <a:solidFill>
              <a:srgbClr val="2A323C"/>
            </a:solidFill>
            <a:prstDash val="solid"/>
          </a:ln>
        </p:spPr>
      </p:sp>
      <p:sp>
        <p:nvSpPr>
          <p:cNvPr id="22" name="Step label Edit scene"/>
          <p:cNvSpPr txBox="1"/>
          <p:nvPr/>
        </p:nvSpPr>
        <p:spPr>
          <a:xfrm>
            <a:off x="7933944" y="4434840"/>
            <a:ext cx="87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Edit scene</a:t>
            </a:r>
            <a:endParaRPr lang="en-US" sz="1100" dirty="0"/>
          </a:p>
        </p:txBody>
      </p:sp>
      <p:sp>
        <p:nvSpPr>
          <p:cNvPr id="23" name="Step Validate"/>
          <p:cNvSpPr/>
          <p:nvPr/>
        </p:nvSpPr>
        <p:spPr>
          <a:xfrm>
            <a:off x="8883396" y="4434840"/>
            <a:ext cx="876300" cy="502920"/>
          </a:xfrm>
          <a:prstGeom prst="roundRect">
            <a:avLst>
              <a:gd name="adj" fmla="val 14545"/>
            </a:avLst>
          </a:prstGeom>
          <a:solidFill>
            <a:srgbClr val="34D39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4" name="Step label Validate"/>
          <p:cNvSpPr txBox="1"/>
          <p:nvPr/>
        </p:nvSpPr>
        <p:spPr>
          <a:xfrm>
            <a:off x="8883396" y="4434840"/>
            <a:ext cx="87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216"/>
                </a:solidFill>
              </a:rPr>
              <a:t>Validate</a:t>
            </a:r>
            <a:endParaRPr lang="en-US" sz="1100" dirty="0"/>
          </a:p>
        </p:txBody>
      </p:sp>
      <p:sp>
        <p:nvSpPr>
          <p:cNvPr id="25" name="Step Screenshot"/>
          <p:cNvSpPr/>
          <p:nvPr/>
        </p:nvSpPr>
        <p:spPr>
          <a:xfrm>
            <a:off x="9832848" y="4434840"/>
            <a:ext cx="87630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9525">
            <a:solidFill>
              <a:srgbClr val="2A323C"/>
            </a:solidFill>
            <a:prstDash val="solid"/>
          </a:ln>
        </p:spPr>
      </p:sp>
      <p:sp>
        <p:nvSpPr>
          <p:cNvPr id="26" name="Step label Screenshot"/>
          <p:cNvSpPr txBox="1"/>
          <p:nvPr/>
        </p:nvSpPr>
        <p:spPr>
          <a:xfrm>
            <a:off x="9832848" y="4434840"/>
            <a:ext cx="87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Screenshot</a:t>
            </a:r>
            <a:endParaRPr lang="en-US" sz="1100" dirty="0"/>
          </a:p>
        </p:txBody>
      </p:sp>
      <p:sp>
        <p:nvSpPr>
          <p:cNvPr id="27" name="Step Answer"/>
          <p:cNvSpPr/>
          <p:nvPr/>
        </p:nvSpPr>
        <p:spPr>
          <a:xfrm>
            <a:off x="10782300" y="4434840"/>
            <a:ext cx="87630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9525">
            <a:solidFill>
              <a:srgbClr val="2A323C"/>
            </a:solidFill>
            <a:prstDash val="solid"/>
          </a:ln>
        </p:spPr>
      </p:sp>
      <p:sp>
        <p:nvSpPr>
          <p:cNvPr id="28" name="Step label Answer"/>
          <p:cNvSpPr txBox="1"/>
          <p:nvPr/>
        </p:nvSpPr>
        <p:spPr>
          <a:xfrm>
            <a:off x="10782300" y="4434840"/>
            <a:ext cx="87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Answer</a:t>
            </a:r>
            <a:endParaRPr lang="en-US" sz="1100" dirty="0"/>
          </a:p>
        </p:txBody>
      </p:sp>
      <p:sp>
        <p:nvSpPr>
          <p:cNvPr id="29" name="Loop note"/>
          <p:cNvSpPr txBox="1"/>
          <p:nvPr/>
        </p:nvSpPr>
        <p:spPr>
          <a:xfrm>
            <a:off x="6035040" y="500176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8A5"/>
                </a:solidFill>
              </a:rPr>
              <a:t>The model can only act through tools; validation reports feed back until the scene is valid</a:t>
            </a:r>
            <a:endParaRPr lang="en-US" sz="1150" dirty="0"/>
          </a:p>
        </p:txBody>
      </p:sp>
      <p:pic>
        <p:nvPicPr>
          <p:cNvPr id="30" name="QR" descr="D:\devel\webd3d26-competition\x3d-copilot\docs\submission\fastforward\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5532120"/>
            <a:ext cx="914400" cy="914400"/>
          </a:xfrm>
          <a:prstGeom prst="rect">
            <a:avLst/>
          </a:prstGeom>
        </p:spPr>
      </p:pic>
      <p:sp>
        <p:nvSpPr>
          <p:cNvPr id="31" name="Links"/>
          <p:cNvSpPr txBox="1"/>
          <p:nvPr/>
        </p:nvSpPr>
        <p:spPr>
          <a:xfrm>
            <a:off x="6035040" y="55778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albertojaspe.net/x3d-copilot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github.com/ajaspe/x3d-copilot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</a:rPr>
              <a:t>Video: youtu.be/ll1CE0XaRjo</a:t>
            </a:r>
            <a:endParaRPr lang="en-US" sz="1300" dirty="0"/>
          </a:p>
        </p:txBody>
      </p:sp>
      <p:sp>
        <p:nvSpPr>
          <p:cNvPr id="32" name="Author"/>
          <p:cNvSpPr txBox="1"/>
          <p:nvPr/>
        </p:nvSpPr>
        <p:spPr>
          <a:xfrm>
            <a:off x="548640" y="5989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Alberto Jaspe-Villanueva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</a:rPr>
              <a:t>KAUST  ·  Web3D 2026, AI &amp; Web3D Innovation Competition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the Loop: AI authoring of X3D 4.0 that conforms by construction</dc:title>
  <dc:subject>PptxGenJS Presentation</dc:subject>
  <dc:creator>Alberto Jaspe-Villanueva</dc:creator>
  <cp:lastModifiedBy>Alberto Jaspe-Villanueva</cp:lastModifiedBy>
  <cp:revision>1</cp:revision>
  <dcterms:created xsi:type="dcterms:W3CDTF">2026-10-14T06:54:59Z</dcterms:created>
  <dcterms:modified xsi:type="dcterms:W3CDTF">2026-10-14T06:54:59Z</dcterms:modified>
</cp:coreProperties>
</file>